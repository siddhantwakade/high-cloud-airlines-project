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74" d="100"/>
          <a:sy n="74" d="100"/>
        </p:scale>
        <p:origin x="119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7162-F654-481D-A676-BA0D4EE944B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916E0-7630-4337-A60F-23D1076CA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71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7162-F654-481D-A676-BA0D4EE944B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0DD916E0-7630-4337-A60F-23D1076CA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070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7162-F654-481D-A676-BA0D4EE944B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916E0-7630-4337-A60F-23D1076CA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162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7162-F654-481D-A676-BA0D4EE944B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916E0-7630-4337-A60F-23D1076CA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7270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7162-F654-481D-A676-BA0D4EE944B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916E0-7630-4337-A60F-23D1076CA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373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7162-F654-481D-A676-BA0D4EE944B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916E0-7630-4337-A60F-23D1076CA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731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7162-F654-481D-A676-BA0D4EE944B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916E0-7630-4337-A60F-23D1076CA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1201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7162-F654-481D-A676-BA0D4EE944B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916E0-7630-4337-A60F-23D1076CA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736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7162-F654-481D-A676-BA0D4EE944B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916E0-7630-4337-A60F-23D1076CA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431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7162-F654-481D-A676-BA0D4EE944B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916E0-7630-4337-A60F-23D1076CA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471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7162-F654-481D-A676-BA0D4EE944B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916E0-7630-4337-A60F-23D1076CA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5038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7162-F654-481D-A676-BA0D4EE944B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916E0-7630-4337-A60F-23D1076CA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14289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7162-F654-481D-A676-BA0D4EE944B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916E0-7630-4337-A60F-23D1076CA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6225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7162-F654-481D-A676-BA0D4EE944B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916E0-7630-4337-A60F-23D1076CA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977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7162-F654-481D-A676-BA0D4EE944B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916E0-7630-4337-A60F-23D1076CA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30228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7162-F654-481D-A676-BA0D4EE944B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916E0-7630-4337-A60F-23D1076CA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8289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7162-F654-481D-A676-BA0D4EE944B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916E0-7630-4337-A60F-23D1076CA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453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AF7162-F654-481D-A676-BA0D4EE944B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DD916E0-7630-4337-A60F-23D1076CA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986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45B77A5-1ACC-D6AE-0174-56E3F74893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6011" y="-372790"/>
            <a:ext cx="6678922" cy="3801790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5400" dirty="0">
                <a:latin typeface="Gill Sans Ultra Bold" panose="020B0A02020104020203" pitchFamily="34" charset="0"/>
              </a:rPr>
              <a:t>HIGH CLOUD </a:t>
            </a:r>
            <a:br>
              <a:rPr lang="en-US" sz="5400" dirty="0">
                <a:latin typeface="Gill Sans Ultra Bold" panose="020B0A02020104020203" pitchFamily="34" charset="0"/>
              </a:rPr>
            </a:br>
            <a:r>
              <a:rPr lang="en-US" sz="5400" dirty="0">
                <a:latin typeface="Gill Sans Ultra Bold" panose="020B0A02020104020203" pitchFamily="34" charset="0"/>
              </a:rPr>
              <a:t>AIRLINES</a:t>
            </a:r>
            <a:endParaRPr lang="en-IN" sz="5400" dirty="0">
              <a:latin typeface="Gill Sans Ultra Bold" panose="020B0A02020104020203" pitchFamily="34" charset="0"/>
            </a:endParaRPr>
          </a:p>
        </p:txBody>
      </p:sp>
      <p:pic>
        <p:nvPicPr>
          <p:cNvPr id="7" name="Google Shape;149;p26">
            <a:extLst>
              <a:ext uri="{FF2B5EF4-FFF2-40B4-BE49-F238E27FC236}">
                <a16:creationId xmlns:a16="http://schemas.microsoft.com/office/drawing/2014/main" id="{FCD96A42-44C8-56A5-DA6E-28B061A7FCD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14074"/>
          <a:stretch/>
        </p:blipFill>
        <p:spPr>
          <a:xfrm>
            <a:off x="7504833" y="1157050"/>
            <a:ext cx="4461025" cy="22719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48;p26">
            <a:extLst>
              <a:ext uri="{FF2B5EF4-FFF2-40B4-BE49-F238E27FC236}">
                <a16:creationId xmlns:a16="http://schemas.microsoft.com/office/drawing/2014/main" id="{78778ED3-6280-D46D-0DD5-061DED93A854}"/>
              </a:ext>
            </a:extLst>
          </p:cNvPr>
          <p:cNvSpPr/>
          <p:nvPr/>
        </p:nvSpPr>
        <p:spPr>
          <a:xfrm>
            <a:off x="9020561" y="1591002"/>
            <a:ext cx="2736000" cy="2732100"/>
          </a:xfrm>
          <a:prstGeom prst="blockArc">
            <a:avLst>
              <a:gd name="adj1" fmla="val 16210197"/>
              <a:gd name="adj2" fmla="val 11017012"/>
              <a:gd name="adj3" fmla="val 19723"/>
            </a:avLst>
          </a:prstGeom>
          <a:solidFill>
            <a:srgbClr val="002060"/>
          </a:solidFill>
          <a:ln>
            <a:noFill/>
          </a:ln>
          <a:effectLst>
            <a:outerShdw dist="76200" dir="5400000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53D225-4F70-586D-C79C-6E088043B66C}"/>
              </a:ext>
            </a:extLst>
          </p:cNvPr>
          <p:cNvSpPr txBox="1"/>
          <p:nvPr/>
        </p:nvSpPr>
        <p:spPr>
          <a:xfrm>
            <a:off x="4193459" y="3726426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An Analytical Study of Airline Performance Metrics</a:t>
            </a:r>
            <a:endParaRPr lang="en-IN" sz="2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125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03C2C-E323-29C8-D57D-0C36ABB40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3472" y="0"/>
            <a:ext cx="10018713" cy="1199535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Cooper Black" panose="0208090404030B020404" pitchFamily="18" charset="0"/>
              </a:rPr>
              <a:t>TEAM</a:t>
            </a:r>
            <a:endParaRPr lang="en-IN" sz="4800" b="1" dirty="0">
              <a:latin typeface="Cooper Black" panose="0208090404030B0204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C4EA21-5808-9C94-DC7A-A38B4D2DB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9768" y="1445342"/>
            <a:ext cx="1042219" cy="9758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19E116-A4F2-DB27-28C9-A50EE379A5E4}"/>
              </a:ext>
            </a:extLst>
          </p:cNvPr>
          <p:cNvSpPr txBox="1"/>
          <p:nvPr/>
        </p:nvSpPr>
        <p:spPr>
          <a:xfrm>
            <a:off x="9391886" y="1603649"/>
            <a:ext cx="2271794" cy="568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Charan 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C205FC-04B2-98A6-26FC-0D3C90F8C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820" y="2738284"/>
            <a:ext cx="1042219" cy="9758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504407-A3AC-4EF7-8F85-8CF1E0A5D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9768" y="2738284"/>
            <a:ext cx="1042219" cy="9758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3207169-1FC7-D1C8-AA2B-6F096A419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819" y="3918155"/>
            <a:ext cx="1042219" cy="9758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1BB5A2-BB7F-23F0-37FC-47689DAEA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4854" y="3918155"/>
            <a:ext cx="1042219" cy="97585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1384ACC-57C9-2842-291A-36105DA25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2367" y="1403554"/>
            <a:ext cx="1155291" cy="119953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95E168C-D498-293A-751E-83F4AC580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8354" y="5144728"/>
            <a:ext cx="1155291" cy="119953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48B567C-3316-A5F0-A720-B96AE9B5F35D}"/>
              </a:ext>
            </a:extLst>
          </p:cNvPr>
          <p:cNvSpPr txBox="1"/>
          <p:nvPr/>
        </p:nvSpPr>
        <p:spPr>
          <a:xfrm>
            <a:off x="3456038" y="1621087"/>
            <a:ext cx="2467242" cy="568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Usha A                                                                                           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251C5F-882F-4EE1-1B30-0BA96736DFD1}"/>
              </a:ext>
            </a:extLst>
          </p:cNvPr>
          <p:cNvSpPr txBox="1"/>
          <p:nvPr/>
        </p:nvSpPr>
        <p:spPr>
          <a:xfrm>
            <a:off x="3456038" y="2882845"/>
            <a:ext cx="2975242" cy="568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Jayanth Gowda S 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8898A8-86E0-49E9-630F-C0B2ECF04069}"/>
              </a:ext>
            </a:extLst>
          </p:cNvPr>
          <p:cNvSpPr txBox="1"/>
          <p:nvPr/>
        </p:nvSpPr>
        <p:spPr>
          <a:xfrm>
            <a:off x="9391886" y="2882845"/>
            <a:ext cx="2027954" cy="568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b="1" dirty="0"/>
              <a:t>Vilas </a:t>
            </a:r>
            <a:r>
              <a:rPr lang="en-IN" b="1" dirty="0" err="1"/>
              <a:t>Banwariya</a:t>
            </a:r>
            <a:r>
              <a:rPr lang="en-IN" b="1" dirty="0"/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0AFBA5-6F3F-EFAB-4D94-43E8155B66E0}"/>
              </a:ext>
            </a:extLst>
          </p:cNvPr>
          <p:cNvSpPr txBox="1"/>
          <p:nvPr/>
        </p:nvSpPr>
        <p:spPr>
          <a:xfrm>
            <a:off x="3456038" y="4013786"/>
            <a:ext cx="2975242" cy="568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b="1" dirty="0"/>
              <a:t>Siddhant Nagesh </a:t>
            </a:r>
            <a:r>
              <a:rPr lang="en-IN" b="1" dirty="0" err="1"/>
              <a:t>Wakade</a:t>
            </a:r>
            <a:endParaRPr lang="en-IN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A71AC5-B238-C19D-42AA-1D38C2D81E1C}"/>
              </a:ext>
            </a:extLst>
          </p:cNvPr>
          <p:cNvSpPr txBox="1"/>
          <p:nvPr/>
        </p:nvSpPr>
        <p:spPr>
          <a:xfrm>
            <a:off x="9468464" y="4010512"/>
            <a:ext cx="1721632" cy="568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b="1" dirty="0"/>
              <a:t>Aditya Singh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8A7EFE-626D-DA78-7805-A4E9C33A194E}"/>
              </a:ext>
            </a:extLst>
          </p:cNvPr>
          <p:cNvSpPr txBox="1"/>
          <p:nvPr/>
        </p:nvSpPr>
        <p:spPr>
          <a:xfrm>
            <a:off x="6673645" y="5460122"/>
            <a:ext cx="2583428" cy="568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b="1" dirty="0"/>
              <a:t>Sakshi Dilip </a:t>
            </a:r>
            <a:r>
              <a:rPr lang="en-IN" b="1" dirty="0" err="1"/>
              <a:t>Kothawade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073988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30AD5-CB8F-F5B3-EBC2-651187D81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991" y="0"/>
            <a:ext cx="10018713" cy="1102360"/>
          </a:xfrm>
        </p:spPr>
        <p:txBody>
          <a:bodyPr/>
          <a:lstStyle/>
          <a:p>
            <a:r>
              <a:rPr lang="en-US" b="1" dirty="0">
                <a:latin typeface="Cooper Black" panose="0208090404030B020404" pitchFamily="18" charset="0"/>
              </a:rPr>
              <a:t>CONTENTS</a:t>
            </a:r>
            <a:endParaRPr lang="en-IN" b="1" dirty="0">
              <a:latin typeface="Cooper Black" panose="0208090404030B0204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780CF3-5331-5699-04DB-4EB9C30B7426}"/>
              </a:ext>
            </a:extLst>
          </p:cNvPr>
          <p:cNvSpPr txBox="1"/>
          <p:nvPr/>
        </p:nvSpPr>
        <p:spPr>
          <a:xfrm>
            <a:off x="2529840" y="784860"/>
            <a:ext cx="9204960" cy="5966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1600" b="1" dirty="0">
                <a:latin typeface="Aptos Display" panose="020B0004020202020204" pitchFamily="34" charset="0"/>
              </a:rPr>
              <a:t>INTRODUCTION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1600" b="1" dirty="0">
                <a:latin typeface="Aptos Display" panose="020B0004020202020204" pitchFamily="34" charset="0"/>
              </a:rPr>
              <a:t>CHALLENGES FACED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1600" b="1" dirty="0">
                <a:latin typeface="Aptos Display" panose="020B0004020202020204" pitchFamily="34" charset="0"/>
              </a:rPr>
              <a:t>1</a:t>
            </a:r>
            <a:r>
              <a:rPr lang="en-US" sz="1600" b="1" baseline="30000" dirty="0">
                <a:latin typeface="Aptos Display" panose="020B0004020202020204" pitchFamily="34" charset="0"/>
              </a:rPr>
              <a:t>ST</a:t>
            </a:r>
            <a:r>
              <a:rPr lang="en-US" sz="1600" b="1" dirty="0">
                <a:latin typeface="Aptos Display" panose="020B0004020202020204" pitchFamily="34" charset="0"/>
              </a:rPr>
              <a:t> KPI – CALENDAR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1600" b="1" dirty="0">
                <a:latin typeface="Aptos Display" panose="020B0004020202020204" pitchFamily="34" charset="0"/>
              </a:rPr>
              <a:t>2</a:t>
            </a:r>
            <a:r>
              <a:rPr lang="en-US" sz="1600" b="1" baseline="30000" dirty="0">
                <a:latin typeface="Aptos Display" panose="020B0004020202020204" pitchFamily="34" charset="0"/>
              </a:rPr>
              <a:t>ND</a:t>
            </a:r>
            <a:r>
              <a:rPr lang="en-US" sz="1600" b="1" dirty="0">
                <a:latin typeface="Aptos Display" panose="020B0004020202020204" pitchFamily="34" charset="0"/>
              </a:rPr>
              <a:t> KPI – LOAD FACTOR ANALYSIS ON A YEARLY, QUARTERLY, MONTHLY BASIS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1600" b="1" dirty="0">
                <a:latin typeface="Aptos Display" panose="020B0004020202020204" pitchFamily="34" charset="0"/>
              </a:rPr>
              <a:t>3</a:t>
            </a:r>
            <a:r>
              <a:rPr lang="en-US" sz="1600" b="1" baseline="30000" dirty="0">
                <a:latin typeface="Aptos Display" panose="020B0004020202020204" pitchFamily="34" charset="0"/>
              </a:rPr>
              <a:t>RD</a:t>
            </a:r>
            <a:r>
              <a:rPr lang="en-US" sz="1600" b="1" dirty="0">
                <a:latin typeface="Aptos Display" panose="020B0004020202020204" pitchFamily="34" charset="0"/>
              </a:rPr>
              <a:t> KPI – LOAD FACTOR PERCENTAGE ON A CARRIER NAME BASIS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1600" b="1" dirty="0">
                <a:latin typeface="Aptos Display" panose="020B0004020202020204" pitchFamily="34" charset="0"/>
              </a:rPr>
              <a:t>4</a:t>
            </a:r>
            <a:r>
              <a:rPr lang="en-US" sz="1600" b="1" baseline="30000" dirty="0">
                <a:latin typeface="Aptos Display" panose="020B0004020202020204" pitchFamily="34" charset="0"/>
              </a:rPr>
              <a:t>TH</a:t>
            </a:r>
            <a:r>
              <a:rPr lang="en-US" sz="1600" b="1" dirty="0">
                <a:latin typeface="Aptos Display" panose="020B0004020202020204" pitchFamily="34" charset="0"/>
              </a:rPr>
              <a:t> KPI – TOP 10 CARRIER NAMES BASED ON PASSENGER PREFERENCE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1600" b="1" dirty="0">
                <a:latin typeface="Aptos Display" panose="020B0004020202020204" pitchFamily="34" charset="0"/>
              </a:rPr>
              <a:t>5</a:t>
            </a:r>
            <a:r>
              <a:rPr lang="en-US" sz="1600" b="1" baseline="30000" dirty="0">
                <a:latin typeface="Aptos Display" panose="020B0004020202020204" pitchFamily="34" charset="0"/>
              </a:rPr>
              <a:t>TH</a:t>
            </a:r>
            <a:r>
              <a:rPr lang="en-US" sz="1600" b="1" dirty="0">
                <a:latin typeface="Aptos Display" panose="020B0004020202020204" pitchFamily="34" charset="0"/>
              </a:rPr>
              <a:t> KPI – TOP (FROM-TO CITY) BASED ON NUMBER OF FLIGHTS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1600" b="1" dirty="0">
                <a:latin typeface="Aptos Display" panose="020B0004020202020204" pitchFamily="34" charset="0"/>
              </a:rPr>
              <a:t>6</a:t>
            </a:r>
            <a:r>
              <a:rPr lang="en-US" sz="1600" b="1" baseline="30000" dirty="0">
                <a:latin typeface="Aptos Display" panose="020B0004020202020204" pitchFamily="34" charset="0"/>
              </a:rPr>
              <a:t>TH</a:t>
            </a:r>
            <a:r>
              <a:rPr lang="en-US" sz="1600" b="1" dirty="0">
                <a:latin typeface="Aptos Display" panose="020B0004020202020204" pitchFamily="34" charset="0"/>
              </a:rPr>
              <a:t> KPI – LOAD FACTOR PERCENTAGE ON A WEEKDAY AND WEEKEND BASIS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1600" b="1" dirty="0">
                <a:latin typeface="Aptos Display" panose="020B0004020202020204" pitchFamily="34" charset="0"/>
              </a:rPr>
              <a:t>7</a:t>
            </a:r>
            <a:r>
              <a:rPr lang="en-US" sz="1600" b="1" baseline="30000" dirty="0">
                <a:latin typeface="Aptos Display" panose="020B0004020202020204" pitchFamily="34" charset="0"/>
              </a:rPr>
              <a:t>TH</a:t>
            </a:r>
            <a:r>
              <a:rPr lang="en-US" sz="1600" b="1" dirty="0">
                <a:latin typeface="Aptos Display" panose="020B0004020202020204" pitchFamily="34" charset="0"/>
              </a:rPr>
              <a:t> KPI – SEARCH CAPABILITY TO FIND THE FLIGHTS BETWEEN SOURCE AND DESTINATION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1600" b="1" dirty="0">
                <a:latin typeface="Aptos Display" panose="020B0004020202020204" pitchFamily="34" charset="0"/>
              </a:rPr>
              <a:t>8</a:t>
            </a:r>
            <a:r>
              <a:rPr lang="en-US" sz="1600" b="1" baseline="30000" dirty="0">
                <a:latin typeface="Aptos Display" panose="020B0004020202020204" pitchFamily="34" charset="0"/>
              </a:rPr>
              <a:t>TH</a:t>
            </a:r>
            <a:r>
              <a:rPr lang="en-US" sz="1600" b="1" dirty="0">
                <a:latin typeface="Aptos Display" panose="020B0004020202020204" pitchFamily="34" charset="0"/>
              </a:rPr>
              <a:t> KPI – NUMBER OF FLIGHTS BASED ON DISTANCE GROUP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1600" b="1" dirty="0">
                <a:latin typeface="Aptos Display" panose="020B0004020202020204" pitchFamily="34" charset="0"/>
              </a:rPr>
              <a:t>EXCEL DASHBOARD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1600" b="1" dirty="0">
                <a:latin typeface="Aptos Display" panose="020B0004020202020204" pitchFamily="34" charset="0"/>
              </a:rPr>
              <a:t>POWERBI DASHBOARD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1600" b="1" dirty="0">
                <a:latin typeface="Aptos Display" panose="020B0004020202020204" pitchFamily="34" charset="0"/>
              </a:rPr>
              <a:t>TABLEAU DASHBOARD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1600" b="1" dirty="0">
                <a:latin typeface="Aptos Display" panose="020B0004020202020204" pitchFamily="34" charset="0"/>
              </a:rPr>
              <a:t>SQL QUERY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1600" b="1" dirty="0">
                <a:latin typeface="Aptos Display" panose="020B0004020202020204" pitchFamily="34" charset="0"/>
              </a:rPr>
              <a:t>RECOMMENDATIONS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1600" b="1" dirty="0">
                <a:latin typeface="Aptos Display" panose="020B0004020202020204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89512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134A9-3A5E-C35F-8867-C4582E39D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6551" y="249088"/>
            <a:ext cx="10018713" cy="873760"/>
          </a:xfrm>
        </p:spPr>
        <p:txBody>
          <a:bodyPr>
            <a:normAutofit/>
          </a:bodyPr>
          <a:lstStyle/>
          <a:p>
            <a:r>
              <a:rPr lang="en-US" b="1" dirty="0">
                <a:latin typeface="Cooper Black" panose="0208090404030B020404" pitchFamily="18" charset="0"/>
              </a:rPr>
              <a:t>INTRODUCTION</a:t>
            </a:r>
            <a:endParaRPr lang="en-IN" b="1" dirty="0">
              <a:latin typeface="Cooper Black" panose="0208090404030B0204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BA7A9C-7263-835D-4654-3D1D265A4DE8}"/>
              </a:ext>
            </a:extLst>
          </p:cNvPr>
          <p:cNvSpPr txBox="1"/>
          <p:nvPr/>
        </p:nvSpPr>
        <p:spPr>
          <a:xfrm>
            <a:off x="1758632" y="1275248"/>
            <a:ext cx="10018712" cy="4622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dirty="0">
                <a:latin typeface="Aptos Display" panose="020B0004020202020204" pitchFamily="34" charset="0"/>
              </a:rPr>
              <a:t>The High Cloud Airlines Analysis Project focuses on analyzing airline operational and passenger data to gain meaningful business insights and support data-driven decision-making. The project examines key performance indicators such as passenger volume, load factor, route performance, carrier efficiency, and travel trends over time.</a:t>
            </a:r>
          </a:p>
          <a:p>
            <a:pPr algn="just">
              <a:lnSpc>
                <a:spcPct val="150000"/>
              </a:lnSpc>
              <a:buNone/>
            </a:pPr>
            <a:endParaRPr lang="en-US" dirty="0">
              <a:latin typeface="Aptos Display" panose="020B0004020202020204" pitchFamily="34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b="1" dirty="0">
                <a:solidFill>
                  <a:srgbClr val="0070C0"/>
                </a:solidFill>
                <a:latin typeface="Aptos Display" panose="020B0004020202020204" pitchFamily="34" charset="0"/>
              </a:rPr>
              <a:t>DATABASE: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dirty="0">
                <a:latin typeface="Aptos Display" panose="020B0004020202020204" pitchFamily="34" charset="0"/>
              </a:rPr>
              <a:t>The High Cloud Airlines database is a comprehensive, cleaned, and structured airline operations dataset containing over 110,000 flight records with 54 attributes. The database includes carrier-level details (airline ID, carrier code, carrier name), origin and destination information, operational metrics, and date fields (Year, Month, Day) to support time-based analysis. The database is optimized for seamless integration with </a:t>
            </a:r>
            <a:r>
              <a:rPr lang="en-US" b="1" dirty="0">
                <a:latin typeface="Aptos Display" panose="020B0004020202020204" pitchFamily="34" charset="0"/>
              </a:rPr>
              <a:t>MySQL, Power BI, Tableau, and Excel </a:t>
            </a:r>
            <a:r>
              <a:rPr lang="en-US" dirty="0">
                <a:latin typeface="Aptos Display" panose="020B0004020202020204" pitchFamily="34" charset="0"/>
              </a:rPr>
              <a:t>to deliver reliable dashboards and business insights</a:t>
            </a:r>
            <a:r>
              <a:rPr lang="en-US" dirty="0"/>
              <a:t>.</a:t>
            </a:r>
            <a:endParaRPr lang="en-US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428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662B9-FA22-DC60-F771-29147CB7F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5911" y="0"/>
            <a:ext cx="10018713" cy="1305560"/>
          </a:xfrm>
        </p:spPr>
        <p:txBody>
          <a:bodyPr/>
          <a:lstStyle/>
          <a:p>
            <a:r>
              <a:rPr lang="en-US" b="1" dirty="0">
                <a:latin typeface="Cooper Black" panose="0208090404030B020404" pitchFamily="18" charset="0"/>
              </a:rPr>
              <a:t>CHALLENGES FACED</a:t>
            </a:r>
            <a:endParaRPr lang="en-IN" b="1" dirty="0">
              <a:latin typeface="Cooper Black" panose="0208090404030B0204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CA4325F-FA96-2172-935B-303DCAB5511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652427" y="1305560"/>
            <a:ext cx="9885680" cy="4622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Data Quality &amp; Cleaning Issues: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The raw airline dataset contained missing values, inconsistent city/state names, and incorrect date formats, which required extensive data cleaning and validation before analysis.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Complex Data Modeling &amp; Relationships: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Creating accurate relationships between date, route, carrier, and passenger data was challenging, especially while calculating metrics like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Load Factor %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and ensuring correct filter and slicer interactions.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Performance &amp; Visualization Optimization: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Handling large volumes of flight data caused performance issues in dashboards. Optimizing calculations, reducing unnecessary visuals, and designing clear, user-friendly dashboards was essential for smooth analysis.</a:t>
            </a:r>
          </a:p>
        </p:txBody>
      </p:sp>
    </p:spTree>
    <p:extLst>
      <p:ext uri="{BB962C8B-B14F-4D97-AF65-F5344CB8AC3E}">
        <p14:creationId xmlns:p14="http://schemas.microsoft.com/office/powerpoint/2010/main" val="2200537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5429D-339C-8F9B-B8C8-35446FA00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430" y="280214"/>
            <a:ext cx="10018713" cy="76708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Cooper Black" panose="0208090404030B020404" pitchFamily="18" charset="0"/>
              </a:rPr>
              <a:t>1</a:t>
            </a:r>
            <a:r>
              <a:rPr lang="en-US" sz="3600" b="1" baseline="30000" dirty="0">
                <a:latin typeface="Cooper Black" panose="0208090404030B020404" pitchFamily="18" charset="0"/>
              </a:rPr>
              <a:t>st</a:t>
            </a:r>
            <a:r>
              <a:rPr lang="en-US" sz="3600" b="1" dirty="0">
                <a:latin typeface="Cooper Black" panose="0208090404030B020404" pitchFamily="18" charset="0"/>
              </a:rPr>
              <a:t> KPI - CALENDAR</a:t>
            </a:r>
            <a:br>
              <a:rPr lang="en-US" b="1" dirty="0">
                <a:latin typeface="Cooper Black" panose="0208090404030B020404" pitchFamily="18" charset="0"/>
              </a:rPr>
            </a:br>
            <a:endParaRPr lang="en-IN" b="1" dirty="0">
              <a:latin typeface="Cooper Black" panose="0208090404030B0204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C32A3B-FA23-65BC-E129-B744F4741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431" y="772160"/>
            <a:ext cx="10018712" cy="35153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4136E6-EFED-126B-C821-136995CB2D10}"/>
              </a:ext>
            </a:extLst>
          </p:cNvPr>
          <p:cNvSpPr txBox="1"/>
          <p:nvPr/>
        </p:nvSpPr>
        <p:spPr>
          <a:xfrm>
            <a:off x="1447800" y="4439920"/>
            <a:ext cx="103073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Year, Month, and Day fields are combined to create a single Date field, ensuring accurate time-based analysis and consistent reporting across dashboards.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From the Date field, key time attributes such as Year, Month, Quarter, Weekday, and Year-Month are derived to analyze seasonal patterns, monthly trends, and day-wise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Financial Month and Financial Quarter are calculated to align operational insights with the organization’s fiscal calendar, enabling better financial and strategic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851353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77EE-44CB-8B8B-F7A1-48935D551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502921"/>
            <a:ext cx="10018713" cy="523240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Cooper Black" panose="0208090404030B020404" pitchFamily="18" charset="0"/>
              </a:rPr>
              <a:t>2</a:t>
            </a:r>
            <a:r>
              <a:rPr lang="en-US" sz="2400" b="1" baseline="30000" dirty="0">
                <a:latin typeface="Cooper Black" panose="0208090404030B020404" pitchFamily="18" charset="0"/>
              </a:rPr>
              <a:t>ND</a:t>
            </a:r>
            <a:r>
              <a:rPr lang="en-US" sz="2400" b="1" dirty="0">
                <a:latin typeface="Cooper Black" panose="0208090404030B020404" pitchFamily="18" charset="0"/>
              </a:rPr>
              <a:t> KPI – LOAD FACTOR ANALYSIS ON A YEARLY, QUARTERLY, MONTHLY BASIS</a:t>
            </a:r>
            <a:br>
              <a:rPr lang="en-US" sz="3200" b="1" dirty="0">
                <a:latin typeface="Cooper Black" panose="0208090404030B020404" pitchFamily="18" charset="0"/>
              </a:rPr>
            </a:br>
            <a:endParaRPr lang="en-IN" sz="3200" dirty="0">
              <a:latin typeface="Cooper Black" panose="0208090404030B0204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5840DD8-83E7-653A-F11B-CB2E97DD1A4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77977" y="2905761"/>
            <a:ext cx="5028248" cy="164592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5584AB-080C-8544-DF5E-C5FC653BF8D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677977" y="1026161"/>
            <a:ext cx="5028248" cy="17541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373670-D5D5-E127-1A93-E9684E3A91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7977" y="4677145"/>
            <a:ext cx="5028248" cy="199797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0F3A785-72D5-E6BD-3A7D-C43124DF37F1}"/>
              </a:ext>
            </a:extLst>
          </p:cNvPr>
          <p:cNvSpPr txBox="1"/>
          <p:nvPr/>
        </p:nvSpPr>
        <p:spPr>
          <a:xfrm>
            <a:off x="1544796" y="1026161"/>
            <a:ext cx="5072697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Aptos Display" panose="020B0004020202020204" pitchFamily="34" charset="0"/>
              </a:rPr>
              <a:t>1. Year-wise Load Factor: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ptos Display" panose="020B0004020202020204" pitchFamily="34" charset="0"/>
              </a:rPr>
              <a:t>Load factor shows a steady improvement over the years, indicating better seat utilization and increasing passenger demand.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ptos Display" panose="020B0004020202020204" pitchFamily="34" charset="0"/>
              </a:rPr>
              <a:t>Minor fluctuations exist, but the overall trend reflects consistent operational growth and efficiency.</a:t>
            </a:r>
          </a:p>
          <a:p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sz="1600" b="1" dirty="0">
                <a:latin typeface="Aptos Display" panose="020B0004020202020204" pitchFamily="34" charset="0"/>
              </a:rPr>
              <a:t>2. Quarter-wise Load Factor: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ptos Display" panose="020B0004020202020204" pitchFamily="34" charset="0"/>
              </a:rPr>
              <a:t>Q3 records the highest load factor, highlighting peak travel demand during this period.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ptos Display" panose="020B0004020202020204" pitchFamily="34" charset="0"/>
              </a:rPr>
              <a:t>Q1 and Q4 are comparatively lower, indicating seasonal variations and potential off-peak opportunities.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sz="1600" b="1" dirty="0">
                <a:latin typeface="Aptos Display" panose="020B0004020202020204" pitchFamily="34" charset="0"/>
              </a:rPr>
              <a:t>3. Month-wise Load Factor: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ptos Display" panose="020B0004020202020204" pitchFamily="34" charset="0"/>
              </a:rPr>
              <a:t>Load factor gradually increases from mid-year (May–August), reflecting high travel activity during summer and holiday seasons.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ptos Display" panose="020B0004020202020204" pitchFamily="34" charset="0"/>
              </a:rPr>
              <a:t>Lower values in February and October suggest demand dips, useful for capacity and pricing optimization.</a:t>
            </a:r>
          </a:p>
        </p:txBody>
      </p:sp>
    </p:spTree>
    <p:extLst>
      <p:ext uri="{BB962C8B-B14F-4D97-AF65-F5344CB8AC3E}">
        <p14:creationId xmlns:p14="http://schemas.microsoft.com/office/powerpoint/2010/main" val="1630443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B74D8-EED0-9F23-1D25-FE3679115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271" y="116841"/>
            <a:ext cx="10018713" cy="115316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Cooper Black" panose="0208090404030B020404" pitchFamily="18" charset="0"/>
              </a:rPr>
              <a:t>3</a:t>
            </a:r>
            <a:r>
              <a:rPr lang="en-US" sz="2800" b="1" baseline="30000" dirty="0">
                <a:latin typeface="Cooper Black" panose="0208090404030B020404" pitchFamily="18" charset="0"/>
              </a:rPr>
              <a:t>RD</a:t>
            </a:r>
            <a:r>
              <a:rPr lang="en-US" sz="2800" b="1" dirty="0">
                <a:latin typeface="Cooper Black" panose="0208090404030B020404" pitchFamily="18" charset="0"/>
              </a:rPr>
              <a:t> KPI – LOAD FACTOR PERCENTAGE ON A CARRIER NAME BASIS</a:t>
            </a:r>
            <a:endParaRPr lang="en-IN" sz="2800" dirty="0">
              <a:latin typeface="Cooper Black" panose="0208090404030B0204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4604C8-395D-5EE6-EC78-35E946DDF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5587" y="1270001"/>
            <a:ext cx="7344253" cy="28651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88BC9C-0925-1941-B533-5816F5068C98}"/>
              </a:ext>
            </a:extLst>
          </p:cNvPr>
          <p:cNvSpPr txBox="1"/>
          <p:nvPr/>
        </p:nvSpPr>
        <p:spPr>
          <a:xfrm>
            <a:off x="2103120" y="4272954"/>
            <a:ext cx="92862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The load factor across all five carriers is consistently maintained between </a:t>
            </a:r>
            <a:r>
              <a:rPr lang="en-US" b="1" dirty="0">
                <a:latin typeface="Aptos Display" panose="020B0004020202020204" pitchFamily="34" charset="0"/>
              </a:rPr>
              <a:t>19% and 21%, </a:t>
            </a:r>
            <a:r>
              <a:rPr lang="en-US" dirty="0">
                <a:latin typeface="Aptos Display" panose="020B0004020202020204" pitchFamily="34" charset="0"/>
              </a:rPr>
              <a:t>indicating stable demand levels and effective capacity planning within the competitive landscape.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With a </a:t>
            </a:r>
            <a:r>
              <a:rPr lang="en-US" b="1" dirty="0">
                <a:latin typeface="Aptos Display" panose="020B0004020202020204" pitchFamily="34" charset="0"/>
              </a:rPr>
              <a:t>21.11%</a:t>
            </a:r>
            <a:r>
              <a:rPr lang="en-US" dirty="0">
                <a:latin typeface="Aptos Display" panose="020B0004020202020204" pitchFamily="34" charset="0"/>
              </a:rPr>
              <a:t> load factor, </a:t>
            </a:r>
            <a:r>
              <a:rPr lang="en-US" dirty="0" err="1">
                <a:latin typeface="Aptos Display" panose="020B0004020202020204" pitchFamily="34" charset="0"/>
              </a:rPr>
              <a:t>Globespan</a:t>
            </a:r>
            <a:r>
              <a:rPr lang="en-US" dirty="0">
                <a:latin typeface="Aptos Display" panose="020B0004020202020204" pitchFamily="34" charset="0"/>
              </a:rPr>
              <a:t> Airways is marginally leading, reflecting slightly better seat occupancy and route optimization compared to other carriers.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Other airlines i.e., </a:t>
            </a:r>
            <a:r>
              <a:rPr lang="en-US" dirty="0" err="1">
                <a:latin typeface="Aptos Display" panose="020B0004020202020204" pitchFamily="34" charset="0"/>
              </a:rPr>
              <a:t>Skyservice</a:t>
            </a:r>
            <a:r>
              <a:rPr lang="en-US" dirty="0">
                <a:latin typeface="Aptos Display" panose="020B0004020202020204" pitchFamily="34" charset="0"/>
              </a:rPr>
              <a:t> Airlines, Sichuan Airlines, XL Airways France, and Allegiant Air has maintain comparable load factors </a:t>
            </a:r>
            <a:r>
              <a:rPr lang="en-US" b="1" dirty="0">
                <a:latin typeface="Aptos Display" panose="020B0004020202020204" pitchFamily="34" charset="0"/>
              </a:rPr>
              <a:t>(~19–20%), </a:t>
            </a:r>
            <a:r>
              <a:rPr lang="en-US" dirty="0">
                <a:latin typeface="Aptos Display" panose="020B0004020202020204" pitchFamily="34" charset="0"/>
              </a:rPr>
              <a:t>suggesting strong competition and consistent operational efficiency across carriers.</a:t>
            </a:r>
          </a:p>
        </p:txBody>
      </p:sp>
    </p:spTree>
    <p:extLst>
      <p:ext uri="{BB962C8B-B14F-4D97-AF65-F5344CB8AC3E}">
        <p14:creationId xmlns:p14="http://schemas.microsoft.com/office/powerpoint/2010/main" val="3872687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10461-8198-B7AC-7EFC-BC2CE3ED5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AF75E-088E-1231-CD5F-8F60E379C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271" y="116841"/>
            <a:ext cx="10018713" cy="1153160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Cooper Black" panose="0208090404030B020404" pitchFamily="18" charset="0"/>
              </a:rPr>
              <a:t>4</a:t>
            </a:r>
            <a:r>
              <a:rPr lang="en-US" sz="2800" b="1" baseline="30000" dirty="0">
                <a:latin typeface="Cooper Black" panose="0208090404030B020404" pitchFamily="18" charset="0"/>
              </a:rPr>
              <a:t>TH</a:t>
            </a:r>
            <a:r>
              <a:rPr lang="en-US" sz="2800" b="1" dirty="0">
                <a:latin typeface="Cooper Black" panose="0208090404030B020404" pitchFamily="18" charset="0"/>
              </a:rPr>
              <a:t> KPI – TOP 10 CARRIER NAMES BASED ON PASSENGER PREFERENCE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BC3FDE-E3A1-1F97-E5F2-8F609020E6EC}"/>
              </a:ext>
            </a:extLst>
          </p:cNvPr>
          <p:cNvSpPr txBox="1"/>
          <p:nvPr/>
        </p:nvSpPr>
        <p:spPr>
          <a:xfrm>
            <a:off x="1852926" y="4572337"/>
            <a:ext cx="971105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Delta Air Lines Inc. transports the highest number of passengers </a:t>
            </a:r>
            <a:r>
              <a:rPr lang="en-US" b="1" dirty="0">
                <a:latin typeface="Aptos Display" panose="020B0004020202020204" pitchFamily="34" charset="0"/>
              </a:rPr>
              <a:t>(8,271)</a:t>
            </a:r>
            <a:r>
              <a:rPr lang="en-US" dirty="0">
                <a:latin typeface="Aptos Display" panose="020B0004020202020204" pitchFamily="34" charset="0"/>
              </a:rPr>
              <a:t>, followed closely by Southwest Airlines Co. </a:t>
            </a:r>
            <a:r>
              <a:rPr lang="en-US" b="1" dirty="0">
                <a:latin typeface="Aptos Display" panose="020B0004020202020204" pitchFamily="34" charset="0"/>
              </a:rPr>
              <a:t>(8,019), </a:t>
            </a:r>
            <a:r>
              <a:rPr lang="en-US" dirty="0">
                <a:latin typeface="Aptos Display" panose="020B0004020202020204" pitchFamily="34" charset="0"/>
              </a:rPr>
              <a:t>indicating strong market dominance among top-tier carriers.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There is a noticeable drop from the top two carriers to Federal Express Corporation </a:t>
            </a:r>
            <a:r>
              <a:rPr lang="en-US" b="1" dirty="0">
                <a:latin typeface="Aptos Display" panose="020B0004020202020204" pitchFamily="34" charset="0"/>
              </a:rPr>
              <a:t>(5,628), </a:t>
            </a:r>
            <a:r>
              <a:rPr lang="en-US" dirty="0">
                <a:latin typeface="Aptos Display" panose="020B0004020202020204" pitchFamily="34" charset="0"/>
              </a:rPr>
              <a:t>highlighting a clear performance gap between leading airlines and mid-tier carriers.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Carriers like Hageland Aviation Service, Continental Air Lines, US Airways, and SkyWest show moderate passenger volumes </a:t>
            </a:r>
            <a:r>
              <a:rPr lang="en-US" b="1" dirty="0">
                <a:latin typeface="Aptos Display" panose="020B0004020202020204" pitchFamily="34" charset="0"/>
              </a:rPr>
              <a:t>(4K–4.6K), </a:t>
            </a:r>
            <a:r>
              <a:rPr lang="en-US" dirty="0">
                <a:latin typeface="Aptos Display" panose="020B0004020202020204" pitchFamily="34" charset="0"/>
              </a:rPr>
              <a:t>while ExpressJet and UPS operate at comparatively lower volumes, indicating different operational scales or business models.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BEC321-D86C-EF6F-ECDC-6B399E5A9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622" y="1270000"/>
            <a:ext cx="9314818" cy="322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700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73C3F-08CE-5275-BA2E-5783F8BEA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871" y="441961"/>
            <a:ext cx="10018713" cy="848360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Cooper Black" panose="0208090404030B020404" pitchFamily="18" charset="0"/>
              </a:rPr>
              <a:t>5</a:t>
            </a:r>
            <a:r>
              <a:rPr lang="en-US" sz="2800" b="1" baseline="30000" dirty="0">
                <a:latin typeface="Cooper Black" panose="0208090404030B020404" pitchFamily="18" charset="0"/>
              </a:rPr>
              <a:t>TH</a:t>
            </a:r>
            <a:r>
              <a:rPr lang="en-US" sz="2800" b="1" dirty="0">
                <a:latin typeface="Cooper Black" panose="0208090404030B020404" pitchFamily="18" charset="0"/>
              </a:rPr>
              <a:t> KPI – TOP (FROM-TO CITY) BASED ON NUMBER OF FLIGHTS</a:t>
            </a:r>
            <a:br>
              <a:rPr lang="en-US" sz="2800" b="1" dirty="0">
                <a:latin typeface="Aptos Display" panose="020B0004020202020204" pitchFamily="34" charset="0"/>
              </a:rPr>
            </a:b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976147-01C7-0C74-E386-C6F8A3EBC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187" y="1127791"/>
            <a:ext cx="10292080" cy="31292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531BE5-6652-838F-F5DB-2B398E4AE14E}"/>
              </a:ext>
            </a:extLst>
          </p:cNvPr>
          <p:cNvSpPr txBox="1"/>
          <p:nvPr/>
        </p:nvSpPr>
        <p:spPr>
          <a:xfrm>
            <a:off x="1942464" y="4368889"/>
            <a:ext cx="97231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The Chicago, IL – Detroit, MI route shows the highest value </a:t>
            </a:r>
            <a:r>
              <a:rPr lang="en-US" b="1" dirty="0">
                <a:latin typeface="Aptos Display" panose="020B0004020202020204" pitchFamily="34" charset="0"/>
              </a:rPr>
              <a:t>(95), </a:t>
            </a:r>
            <a:r>
              <a:rPr lang="en-US" dirty="0">
                <a:latin typeface="Aptos Display" panose="020B0004020202020204" pitchFamily="34" charset="0"/>
              </a:rPr>
              <a:t>indicating it is the strongest-performing and most in-demand route in the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Routes connecting major hubs such as Washington–New York </a:t>
            </a:r>
            <a:r>
              <a:rPr lang="en-US" b="1" dirty="0">
                <a:latin typeface="Aptos Display" panose="020B0004020202020204" pitchFamily="34" charset="0"/>
              </a:rPr>
              <a:t>(88), </a:t>
            </a:r>
            <a:r>
              <a:rPr lang="en-US" dirty="0">
                <a:latin typeface="Aptos Display" panose="020B0004020202020204" pitchFamily="34" charset="0"/>
              </a:rPr>
              <a:t>Washington–Atlanta </a:t>
            </a:r>
            <a:r>
              <a:rPr lang="en-US" b="1" dirty="0">
                <a:latin typeface="Aptos Display" panose="020B0004020202020204" pitchFamily="34" charset="0"/>
              </a:rPr>
              <a:t>(86), </a:t>
            </a:r>
            <a:r>
              <a:rPr lang="en-US" dirty="0">
                <a:latin typeface="Aptos Display" panose="020B0004020202020204" pitchFamily="34" charset="0"/>
              </a:rPr>
              <a:t>and Charlotte–Atlanta </a:t>
            </a:r>
            <a:r>
              <a:rPr lang="en-US" b="1" dirty="0">
                <a:latin typeface="Aptos Display" panose="020B0004020202020204" pitchFamily="34" charset="0"/>
              </a:rPr>
              <a:t>(83)</a:t>
            </a:r>
            <a:r>
              <a:rPr lang="en-US" dirty="0">
                <a:latin typeface="Aptos Display" panose="020B0004020202020204" pitchFamily="34" charset="0"/>
              </a:rPr>
              <a:t> demonstrate consistently high performance, highlighting strong intercity business and commercial traffic.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Most high-performing routes involve major aviation hubs like Chicago, Atlanta, New York, and Washington, suggesting that hub connectivity plays a critical role in overall passenger volume and route performance.</a:t>
            </a:r>
          </a:p>
        </p:txBody>
      </p:sp>
    </p:spTree>
    <p:extLst>
      <p:ext uri="{BB962C8B-B14F-4D97-AF65-F5344CB8AC3E}">
        <p14:creationId xmlns:p14="http://schemas.microsoft.com/office/powerpoint/2010/main" val="3499754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3985B-EEED-7627-05EB-1BBFA70C5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791" y="472441"/>
            <a:ext cx="10018713" cy="624840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Cooper Black" panose="0208090404030B020404" pitchFamily="18" charset="0"/>
              </a:rPr>
              <a:t>6</a:t>
            </a:r>
            <a:r>
              <a:rPr lang="en-US" sz="2800" b="1" baseline="30000" dirty="0">
                <a:latin typeface="Cooper Black" panose="0208090404030B020404" pitchFamily="18" charset="0"/>
              </a:rPr>
              <a:t>TH</a:t>
            </a:r>
            <a:r>
              <a:rPr lang="en-US" sz="2800" b="1" dirty="0">
                <a:latin typeface="Cooper Black" panose="0208090404030B020404" pitchFamily="18" charset="0"/>
              </a:rPr>
              <a:t> KPI – LOAD FACTOR PERCENTAGE ON A WEEKDAY AND WEEKEND BASIS</a:t>
            </a:r>
            <a:br>
              <a:rPr lang="en-US" sz="2800" b="1" dirty="0">
                <a:latin typeface="Cooper Black" panose="0208090404030B020404" pitchFamily="18" charset="0"/>
              </a:rPr>
            </a:br>
            <a:endParaRPr lang="en-IN" sz="2800" dirty="0">
              <a:latin typeface="Cooper Black" panose="0208090404030B0204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ABA283-8616-DAA9-9427-5EE7C230F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878" y="1097281"/>
            <a:ext cx="6144538" cy="32613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2038A0-36D6-14C9-6E8E-AC4D50613CE5}"/>
              </a:ext>
            </a:extLst>
          </p:cNvPr>
          <p:cNvSpPr txBox="1"/>
          <p:nvPr/>
        </p:nvSpPr>
        <p:spPr>
          <a:xfrm>
            <a:off x="1991360" y="4618394"/>
            <a:ext cx="9398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Approximately </a:t>
            </a:r>
            <a:r>
              <a:rPr lang="en-US" b="1" dirty="0">
                <a:latin typeface="Aptos Display" panose="020B0004020202020204" pitchFamily="34" charset="0"/>
              </a:rPr>
              <a:t>71.17%</a:t>
            </a:r>
            <a:r>
              <a:rPr lang="en-US" dirty="0">
                <a:latin typeface="Aptos Display" panose="020B0004020202020204" pitchFamily="34" charset="0"/>
              </a:rPr>
              <a:t> of total passengers travel on weekdays, indicating that demand is significantly higher during working days.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Only </a:t>
            </a:r>
            <a:r>
              <a:rPr lang="en-US" b="1" dirty="0">
                <a:latin typeface="Aptos Display" panose="020B0004020202020204" pitchFamily="34" charset="0"/>
              </a:rPr>
              <a:t>28.83% </a:t>
            </a:r>
            <a:r>
              <a:rPr lang="en-US" dirty="0">
                <a:latin typeface="Aptos Display" panose="020B0004020202020204" pitchFamily="34" charset="0"/>
              </a:rPr>
              <a:t>of passengers travel on weekends, suggesting reduced business travel and slightly lower overall demand.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The strong weekday dominance indicates that business travel and corporate commuting are major contributors to overall passenger traffic, which can influence pricing, scheduling, and capacity planning strategies.</a:t>
            </a:r>
          </a:p>
        </p:txBody>
      </p:sp>
    </p:spTree>
    <p:extLst>
      <p:ext uri="{BB962C8B-B14F-4D97-AF65-F5344CB8AC3E}">
        <p14:creationId xmlns:p14="http://schemas.microsoft.com/office/powerpoint/2010/main" val="4758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E5379-1EE5-9D01-3ACA-AF7CA005E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631" y="370841"/>
            <a:ext cx="10018713" cy="746760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Cooper Black" panose="0208090404030B020404" pitchFamily="18" charset="0"/>
              </a:rPr>
              <a:t>7</a:t>
            </a:r>
            <a:r>
              <a:rPr lang="en-US" sz="2400" b="1" baseline="30000" dirty="0">
                <a:latin typeface="Cooper Black" panose="0208090404030B020404" pitchFamily="18" charset="0"/>
              </a:rPr>
              <a:t>TH</a:t>
            </a:r>
            <a:r>
              <a:rPr lang="en-US" sz="2400" b="1" dirty="0">
                <a:latin typeface="Cooper Black" panose="0208090404030B020404" pitchFamily="18" charset="0"/>
              </a:rPr>
              <a:t> KPI – SEARCH CAPABILITY TO FIND THE FLIGHTS BETWEEN SOURCE AND DESTINATION</a:t>
            </a:r>
            <a:br>
              <a:rPr lang="en-US" sz="2400" b="1" dirty="0">
                <a:latin typeface="Cooper Black" panose="0208090404030B020404" pitchFamily="18" charset="0"/>
              </a:rPr>
            </a:br>
            <a:endParaRPr lang="en-IN" sz="2400" dirty="0">
              <a:latin typeface="Cooper Black" panose="0208090404030B0204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0FC419-18D0-4C1D-C8CC-79FC97ECC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016000"/>
            <a:ext cx="10129520" cy="35690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756579-B165-8B7D-9DB1-1D65F43796F1}"/>
              </a:ext>
            </a:extLst>
          </p:cNvPr>
          <p:cNvSpPr txBox="1"/>
          <p:nvPr/>
        </p:nvSpPr>
        <p:spPr>
          <a:xfrm>
            <a:off x="1863883" y="4642153"/>
            <a:ext cx="1001871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This dashboard enables dynamic filtering across countries, states, and cities, allowing leadership to instantly evaluate route-level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The interactive global map provides a consolidated view of worldwide operations, highlighting route concentration and geographic coverage.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The detailed flight-level dataset delivers deep insights into Carrier performance, Frequency of departures, Origin–destination traffic flow.</a:t>
            </a:r>
            <a:br>
              <a:rPr lang="en-US" dirty="0">
                <a:latin typeface="Aptos Display" panose="020B0004020202020204" pitchFamily="34" charset="0"/>
              </a:rPr>
            </a:br>
            <a:br>
              <a:rPr lang="en-US" dirty="0">
                <a:latin typeface="Aptos Display" panose="020B0004020202020204" pitchFamily="34" charset="0"/>
              </a:rPr>
            </a:br>
            <a:endParaRPr lang="en-US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849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A2EAA-5603-39E8-E52D-342244C10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791" y="370841"/>
            <a:ext cx="10018713" cy="502920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Cooper Black" panose="0208090404030B020404" pitchFamily="18" charset="0"/>
              </a:rPr>
              <a:t>8</a:t>
            </a:r>
            <a:r>
              <a:rPr lang="en-US" sz="2800" b="1" baseline="30000" dirty="0">
                <a:latin typeface="Cooper Black" panose="0208090404030B020404" pitchFamily="18" charset="0"/>
              </a:rPr>
              <a:t>TH</a:t>
            </a:r>
            <a:r>
              <a:rPr lang="en-US" sz="2800" b="1" dirty="0">
                <a:latin typeface="Cooper Black" panose="0208090404030B020404" pitchFamily="18" charset="0"/>
              </a:rPr>
              <a:t> KPI – NUMBER OF FLIGHTS BASED ON DISTANCE GROUP</a:t>
            </a:r>
            <a:endParaRPr lang="en-IN" sz="2800" dirty="0">
              <a:latin typeface="Cooper Black" panose="0208090404030B0204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9E86E5-347E-FE6A-EA9A-5943185BA9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315"/>
          <a:stretch>
            <a:fillRect/>
          </a:stretch>
        </p:blipFill>
        <p:spPr>
          <a:xfrm>
            <a:off x="2499360" y="1112520"/>
            <a:ext cx="7995920" cy="3073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88D685-8F31-6F2A-8266-9256BA2D39E0}"/>
              </a:ext>
            </a:extLst>
          </p:cNvPr>
          <p:cNvSpPr txBox="1"/>
          <p:nvPr/>
        </p:nvSpPr>
        <p:spPr>
          <a:xfrm>
            <a:off x="1717040" y="4272677"/>
            <a:ext cx="102311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The first category leads significantly with </a:t>
            </a:r>
            <a:r>
              <a:rPr lang="en-US" b="1" dirty="0">
                <a:latin typeface="Aptos Display" panose="020B0004020202020204" pitchFamily="34" charset="0"/>
              </a:rPr>
              <a:t>58,047 departures</a:t>
            </a:r>
            <a:r>
              <a:rPr lang="en-US" dirty="0">
                <a:latin typeface="Aptos Display" panose="020B0004020202020204" pitchFamily="34" charset="0"/>
              </a:rPr>
              <a:t>, followed by </a:t>
            </a:r>
            <a:r>
              <a:rPr lang="en-US" b="1" dirty="0">
                <a:latin typeface="Aptos Display" panose="020B0004020202020204" pitchFamily="34" charset="0"/>
              </a:rPr>
              <a:t>28,131 and 11,333 </a:t>
            </a:r>
            <a:r>
              <a:rPr lang="en-US" dirty="0">
                <a:latin typeface="Aptos Display" panose="020B0004020202020204" pitchFamily="34" charset="0"/>
              </a:rPr>
              <a:t>and this indicates that a small number of segments/routes contribute to the majority of total operations, showing strong concentration in key markets.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There is a steep decline after the top 3–4 categories, with volumes reducing drastically beyond 6,000 departures so this highlights a long-tail distribution where most routes operate at comparatively lower frequencies.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The data provides direction for strategic action in strengthening and protecting high-volume routes, explore redistribution of fleet capacity to improve overall network efficiency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42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DF560-F85C-6B55-C832-7AAF1AD4C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471" y="198121"/>
            <a:ext cx="10018713" cy="787400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Eras Bold ITC" panose="020B0907030504020204" pitchFamily="34" charset="0"/>
              </a:rPr>
              <a:t>DASHBOARDS</a:t>
            </a:r>
            <a:endParaRPr lang="en-IN" sz="4400" b="1" dirty="0">
              <a:latin typeface="Eras Bold ITC" panose="020B09070305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AA84C9-82D9-7A97-7BDA-E3D043316978}"/>
              </a:ext>
            </a:extLst>
          </p:cNvPr>
          <p:cNvSpPr txBox="1"/>
          <p:nvPr/>
        </p:nvSpPr>
        <p:spPr>
          <a:xfrm>
            <a:off x="1625600" y="985521"/>
            <a:ext cx="4704080" cy="581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2400" b="1" dirty="0">
                <a:latin typeface="Cooper Black" panose="0208090404030B020404" pitchFamily="18" charset="0"/>
              </a:rPr>
              <a:t>EXCEL DASHBOARD: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D94924-1734-2EC8-E56F-F9E914765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081" y="1651000"/>
            <a:ext cx="10018713" cy="4607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899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6D9F1-DD1E-4EEC-9EE3-81FD9CE49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951" y="695961"/>
            <a:ext cx="5109529" cy="441960"/>
          </a:xfrm>
        </p:spPr>
        <p:txBody>
          <a:bodyPr>
            <a:noAutofit/>
          </a:bodyPr>
          <a:lstStyle/>
          <a:p>
            <a:pPr algn="l"/>
            <a:r>
              <a:rPr lang="en-US" sz="2400" dirty="0">
                <a:latin typeface="Cooper Black" panose="0208090404030B020404" pitchFamily="18" charset="0"/>
              </a:rPr>
              <a:t>2.1 POWERBI DASHBOARD:</a:t>
            </a:r>
            <a:endParaRPr lang="en-IN" sz="2400" dirty="0">
              <a:latin typeface="Cooper Black" panose="0208090404030B0204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D579DA-CF33-FBD2-3693-3DFA44A39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800" y="1391920"/>
            <a:ext cx="9916160" cy="504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43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8FFD5-F5A3-A9CC-F9D0-6AB623149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631" y="198121"/>
            <a:ext cx="4804729" cy="736600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>
                <a:latin typeface="Cooper Black" panose="0208090404030B020404" pitchFamily="18" charset="0"/>
              </a:rPr>
              <a:t>2.2 POWERBI DASHBOARD:</a:t>
            </a:r>
            <a:endParaRPr lang="en-IN" sz="2400" b="1" dirty="0">
              <a:latin typeface="Cooper Black" panose="0208090404030B0204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AAD8F7-D70A-BC0D-1C02-D0057A9CA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231" y="934721"/>
            <a:ext cx="9722169" cy="5527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41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8212D-3400-A4F6-3CA6-99138E690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471" y="304800"/>
            <a:ext cx="10018713" cy="523240"/>
          </a:xfrm>
        </p:spPr>
        <p:txBody>
          <a:bodyPr>
            <a:noAutofit/>
          </a:bodyPr>
          <a:lstStyle/>
          <a:p>
            <a:pPr algn="l"/>
            <a:r>
              <a:rPr lang="en-US" sz="2400" b="1" dirty="0">
                <a:latin typeface="Cooper Black" panose="0208090404030B020404" pitchFamily="18" charset="0"/>
              </a:rPr>
              <a:t>3. TABLEAU DASHBOARD:</a:t>
            </a:r>
            <a:endParaRPr lang="en-IN" sz="2400" b="1" dirty="0">
              <a:latin typeface="Cooper Black" panose="0208090404030B0204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B578C3-395A-475B-BC9C-098E875AC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486" y="934720"/>
            <a:ext cx="9744394" cy="545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5709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B93D7-87DC-090E-E4B3-1753A7F4D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791" y="101601"/>
            <a:ext cx="3229929" cy="716280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>
                <a:latin typeface="Cooper Black" panose="0208090404030B020404" pitchFamily="18" charset="0"/>
              </a:rPr>
              <a:t>4. SQL QUERY:</a:t>
            </a:r>
            <a:endParaRPr lang="en-IN" sz="2400" b="1" dirty="0">
              <a:latin typeface="Cooper Black" panose="0208090404030B0204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A422EF-F1AD-4BC9-456E-883AF6C245BA}"/>
              </a:ext>
            </a:extLst>
          </p:cNvPr>
          <p:cNvSpPr txBox="1"/>
          <p:nvPr/>
        </p:nvSpPr>
        <p:spPr>
          <a:xfrm>
            <a:off x="1404493" y="704901"/>
            <a:ext cx="105632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Aptos Display" panose="020B0004020202020204" pitchFamily="34" charset="0"/>
              </a:rPr>
              <a:t>4</a:t>
            </a:r>
            <a:r>
              <a:rPr lang="en-US" sz="1400" b="1" baseline="30000" dirty="0">
                <a:latin typeface="Aptos Display" panose="020B0004020202020204" pitchFamily="34" charset="0"/>
              </a:rPr>
              <a:t>TH</a:t>
            </a:r>
            <a:r>
              <a:rPr lang="en-US" sz="1400" b="1" dirty="0">
                <a:latin typeface="Aptos Display" panose="020B0004020202020204" pitchFamily="34" charset="0"/>
              </a:rPr>
              <a:t> KPI – TOP 10 CARRIER NAMES BASED ON PASSENGER PREFERENCE:                                                                OUTPUT: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BD5625-EB12-F80C-3F6D-A317F07C9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8017" y="1083349"/>
            <a:ext cx="3897263" cy="22101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4087178-BB25-D694-9603-9BA223D014AA}"/>
              </a:ext>
            </a:extLst>
          </p:cNvPr>
          <p:cNvSpPr txBox="1"/>
          <p:nvPr/>
        </p:nvSpPr>
        <p:spPr>
          <a:xfrm>
            <a:off x="1330959" y="3462995"/>
            <a:ext cx="99284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Aptos Display" panose="020B0004020202020204" pitchFamily="34" charset="0"/>
              </a:rPr>
              <a:t>8</a:t>
            </a:r>
            <a:r>
              <a:rPr lang="en-US" sz="1400" b="1" baseline="30000" dirty="0">
                <a:latin typeface="Aptos Display" panose="020B0004020202020204" pitchFamily="34" charset="0"/>
              </a:rPr>
              <a:t>TH</a:t>
            </a:r>
            <a:r>
              <a:rPr lang="en-US" sz="1400" b="1" dirty="0">
                <a:latin typeface="Aptos Display" panose="020B0004020202020204" pitchFamily="34" charset="0"/>
              </a:rPr>
              <a:t> KPI – NUMBER OF FLIGHTS BASED ON DISTANCE GROUP:                                                                                          OUTPUT: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B2C86D9-99C2-7840-F58B-FCDF9FAB5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791" y="3770772"/>
            <a:ext cx="5547361" cy="21707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AC87093-23B4-5CF9-789A-C0F07B28F6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8017" y="3760535"/>
            <a:ext cx="3897263" cy="21707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64B9A93-CEFD-690E-C60E-8341B8A86D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1144" y="1165683"/>
            <a:ext cx="5611008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7515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99834-8003-41E9-0811-427F12156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1" y="289561"/>
            <a:ext cx="10018713" cy="381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Cooper Black" panose="0208090404030B020404" pitchFamily="18" charset="0"/>
              </a:rPr>
              <a:t>RECOMMENDATIONS</a:t>
            </a:r>
            <a:endParaRPr lang="en-IN" b="1" dirty="0">
              <a:latin typeface="Cooper Black" panose="0208090404030B0204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2C6901-542B-0498-6CF9-2E5B652146BC}"/>
              </a:ext>
            </a:extLst>
          </p:cNvPr>
          <p:cNvSpPr txBox="1"/>
          <p:nvPr/>
        </p:nvSpPr>
        <p:spPr>
          <a:xfrm>
            <a:off x="1473200" y="1195755"/>
            <a:ext cx="10312400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Track load factor performance regularly to identify underutilized capacity and improve route-level profitability.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Focus marketing and loyalty programs around high-demand carriers to enhance customer acquisition and retention.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Analyze top-performing city pairs to strengthen competitive positioning and defend market share.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Implement differentiated pricing and scheduling strategies to capture peak weekend demand and stimulate weekday traffic.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Evaluate carrier efficiency to support performance-based negotiations and strategic collaboration decisions.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Optimize aircraft allocation by aligning short-, medium-, and long-haul operations with profitability and demand trends.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48294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EDD26-5BA0-B759-68D4-7F36C558E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5591" y="248921"/>
            <a:ext cx="10018713" cy="716279"/>
          </a:xfrm>
        </p:spPr>
        <p:txBody>
          <a:bodyPr/>
          <a:lstStyle/>
          <a:p>
            <a:r>
              <a:rPr lang="en-US" b="1" dirty="0">
                <a:latin typeface="Cooper Black" panose="0208090404030B020404" pitchFamily="18" charset="0"/>
              </a:rPr>
              <a:t>CONCLUSION</a:t>
            </a:r>
            <a:endParaRPr lang="en-IN" b="1" dirty="0">
              <a:latin typeface="Cooper Black" panose="0208090404030B0204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FCD414-B304-1F37-AA51-CD8EF54DE837}"/>
              </a:ext>
            </a:extLst>
          </p:cNvPr>
          <p:cNvSpPr txBox="1"/>
          <p:nvPr/>
        </p:nvSpPr>
        <p:spPr>
          <a:xfrm>
            <a:off x="1565591" y="1450261"/>
            <a:ext cx="9907904" cy="379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>
                <a:latin typeface="Aptos Display" panose="020B0004020202020204" pitchFamily="34" charset="0"/>
              </a:rPr>
              <a:t>The High Cloud Airlines Analysis Project successfully transformed raw airline data into meaningful insights that support informed decision-making. By analyzing passenger trends, load factor performance, route efficiency, and seasonal patterns, the project provides a clear understanding of how effectively airline capacity is being utilized over time.</a:t>
            </a:r>
          </a:p>
          <a:p>
            <a:pPr>
              <a:lnSpc>
                <a:spcPct val="150000"/>
              </a:lnSpc>
              <a:buNone/>
            </a:pPr>
            <a:endParaRPr lang="en-US" dirty="0">
              <a:latin typeface="Aptos Display" panose="020B00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Aptos Display" panose="020B0004020202020204" pitchFamily="34" charset="0"/>
              </a:rPr>
              <a:t>The interactive dashboards and KPIs developed using Excel, MySQL, Power BI, and Tableau enable stakeholders to identify peak and off-peak periods, optimize routes, improve resource planning, and enhance customer experience. Overall, this project demonstrates how data analytics can play a critical role in improving operational efficiency and driving strategic growth in the airline industry.</a:t>
            </a:r>
          </a:p>
        </p:txBody>
      </p:sp>
    </p:spTree>
    <p:extLst>
      <p:ext uri="{BB962C8B-B14F-4D97-AF65-F5344CB8AC3E}">
        <p14:creationId xmlns:p14="http://schemas.microsoft.com/office/powerpoint/2010/main" val="30129827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DF518E-C7C4-B546-B68B-6E4A7144AED4}"/>
              </a:ext>
            </a:extLst>
          </p:cNvPr>
          <p:cNvSpPr txBox="1"/>
          <p:nvPr/>
        </p:nvSpPr>
        <p:spPr>
          <a:xfrm>
            <a:off x="2357120" y="2028616"/>
            <a:ext cx="747776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latin typeface="Gill Sans Ultra Bold" panose="020B0A02020104020203" pitchFamily="34" charset="0"/>
              </a:rPr>
              <a:t>THANK YOU</a:t>
            </a:r>
            <a:endParaRPr lang="en-IN" sz="8800" b="1" dirty="0">
              <a:latin typeface="Gill Sans Ultra Bold" panose="020B0A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5474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304</TotalTime>
  <Words>1469</Words>
  <Application>Microsoft Office PowerPoint</Application>
  <PresentationFormat>Widescreen</PresentationFormat>
  <Paragraphs>96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 Display</vt:lpstr>
      <vt:lpstr>Arial</vt:lpstr>
      <vt:lpstr>Cooper Black</vt:lpstr>
      <vt:lpstr>Corbel</vt:lpstr>
      <vt:lpstr>Eras Bold ITC</vt:lpstr>
      <vt:lpstr>Gill Sans Ultra Bold</vt:lpstr>
      <vt:lpstr>Parallax</vt:lpstr>
      <vt:lpstr>HIGH CLOUD  AIRLINES</vt:lpstr>
      <vt:lpstr>TEAM</vt:lpstr>
      <vt:lpstr>CONTENTS</vt:lpstr>
      <vt:lpstr>INTRODUCTION</vt:lpstr>
      <vt:lpstr>CHALLENGES FACED</vt:lpstr>
      <vt:lpstr>1st KPI - CALENDAR </vt:lpstr>
      <vt:lpstr>2ND KPI – LOAD FACTOR ANALYSIS ON A YEARLY, QUARTERLY, MONTHLY BASIS </vt:lpstr>
      <vt:lpstr>3RD KPI – LOAD FACTOR PERCENTAGE ON A CARRIER NAME BASIS</vt:lpstr>
      <vt:lpstr>4TH KPI – TOP 10 CARRIER NAMES BASED ON PASSENGER PREFERENCE</vt:lpstr>
      <vt:lpstr>5TH KPI – TOP (FROM-TO CITY) BASED ON NUMBER OF FLIGHTS </vt:lpstr>
      <vt:lpstr>6TH KPI – LOAD FACTOR PERCENTAGE ON A WEEKDAY AND WEEKEND BASIS </vt:lpstr>
      <vt:lpstr>7TH KPI – SEARCH CAPABILITY TO FIND THE FLIGHTS BETWEEN SOURCE AND DESTINATION </vt:lpstr>
      <vt:lpstr>8TH KPI – NUMBER OF FLIGHTS BASED ON DISTANCE GROUP</vt:lpstr>
      <vt:lpstr>DASHBOARDS</vt:lpstr>
      <vt:lpstr>2.1 POWERBI DASHBOARD:</vt:lpstr>
      <vt:lpstr>2.2 POWERBI DASHBOARD:</vt:lpstr>
      <vt:lpstr>3. TABLEAU DASHBOARD:</vt:lpstr>
      <vt:lpstr>4. SQL QUERY:</vt:lpstr>
      <vt:lpstr>RECOMMENDATIONS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adinarayanadappa1975@outlook.com</dc:creator>
  <cp:lastModifiedBy>adinarayanadappa1975@outlook.com</cp:lastModifiedBy>
  <cp:revision>2</cp:revision>
  <dcterms:created xsi:type="dcterms:W3CDTF">2026-02-25T06:03:48Z</dcterms:created>
  <dcterms:modified xsi:type="dcterms:W3CDTF">2026-02-26T15:40:28Z</dcterms:modified>
</cp:coreProperties>
</file>